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77" r:id="rId3"/>
    <p:sldId id="346" r:id="rId4"/>
    <p:sldId id="347" r:id="rId5"/>
    <p:sldId id="348" r:id="rId6"/>
    <p:sldId id="350" r:id="rId7"/>
    <p:sldId id="323" r:id="rId8"/>
    <p:sldId id="324" r:id="rId9"/>
    <p:sldId id="325" r:id="rId10"/>
    <p:sldId id="365" r:id="rId11"/>
    <p:sldId id="342" r:id="rId12"/>
    <p:sldId id="326" r:id="rId13"/>
    <p:sldId id="343" r:id="rId14"/>
    <p:sldId id="345" r:id="rId15"/>
    <p:sldId id="344" r:id="rId16"/>
    <p:sldId id="340" r:id="rId17"/>
    <p:sldId id="353" r:id="rId18"/>
    <p:sldId id="352" r:id="rId19"/>
    <p:sldId id="357" r:id="rId20"/>
    <p:sldId id="369" r:id="rId21"/>
    <p:sldId id="351" r:id="rId22"/>
    <p:sldId id="361" r:id="rId23"/>
    <p:sldId id="362" r:id="rId24"/>
    <p:sldId id="363" r:id="rId25"/>
    <p:sldId id="36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B90CF-DCFE-4617-BEFD-C7ED7A376B0D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6C0DA-7065-418F-94EC-4C312B177E4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DC3222-BB55-4058-94EA-6397D34D1B61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789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D2FA5D-9076-46BC-AD74-46BBDE155175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24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4048347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4048347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/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9" hasCustomPrompt="1"/>
          </p:nvPr>
        </p:nvSpPr>
        <p:spPr>
          <a:xfrm>
            <a:off x="4578065" y="4635164"/>
            <a:ext cx="4048347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6"/>
          <p:cNvSpPr>
            <a:spLocks noGrp="1"/>
          </p:cNvSpPr>
          <p:nvPr>
            <p:ph sz="quarter" idx="20" hasCustomPrompt="1"/>
          </p:nvPr>
        </p:nvSpPr>
        <p:spPr>
          <a:xfrm>
            <a:off x="4578065" y="5514975"/>
            <a:ext cx="4048347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/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23968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342900" y="1647825"/>
            <a:ext cx="8458200" cy="46005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/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57E0F-392A-4B08-868B-C7D156C84CB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571500" rtl="0" eaLnBrk="1" latinLnBrk="0" hangingPunct="1">
        <a:spcBef>
          <a:spcPct val="0"/>
        </a:spcBef>
        <a:buNone/>
        <a:defRPr sz="2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995" indent="-213995" algn="l" defTabSz="5715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185" indent="-178435" algn="l" defTabSz="5715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0012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7162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etricsWB3.xls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7584" y="1449239"/>
            <a:ext cx="748772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Agenda: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Objectives of quality measurement</a:t>
            </a:r>
            <a:r>
              <a:rPr lang="en-US" b="1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Classification of software quality metrics </a:t>
            </a:r>
            <a:r>
              <a:rPr lang="en-IN" sz="2800" b="1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Process metrics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Product metrics </a:t>
            </a:r>
            <a:r>
              <a:rPr lang="en-IN" sz="2800" b="1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Implementation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Application  </a:t>
            </a:r>
            <a:r>
              <a:rPr lang="en-US" dirty="0"/>
              <a:t>	</a:t>
            </a:r>
          </a:p>
          <a:p>
            <a:endParaRPr lang="en-US" sz="3200" b="1" dirty="0" smtClean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17584" y="324929"/>
            <a:ext cx="774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Software Quality Assurance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2310" y="992039"/>
            <a:ext cx="72893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/>
              <a:t>“ You can’t control what you can’t measure”  - Tom DeMarco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endParaRPr lang="en-IN" sz="20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517584" y="324929"/>
            <a:ext cx="774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Software Quality Assurance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Quality </a:t>
            </a:r>
            <a:r>
              <a:rPr lang="en-US" b="1" dirty="0" smtClean="0"/>
              <a:t>Assurance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571500" y="727365"/>
            <a:ext cx="8229600" cy="1371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5715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latin typeface="+mn-lt"/>
              </a:rPr>
              <a:t>What is Measure and Measurement?</a:t>
            </a:r>
            <a:endParaRPr lang="en-US" altLang="en-US" sz="3200" b="1" dirty="0">
              <a:latin typeface="+mn-lt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304800" y="1600200"/>
            <a:ext cx="8229600" cy="4267200"/>
          </a:xfrm>
          <a:prstGeom prst="rect">
            <a:avLst/>
          </a:prstGeom>
        </p:spPr>
        <p:txBody>
          <a:bodyPr/>
          <a:lstStyle>
            <a:lvl1pPr marL="213995" indent="-21399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4185" indent="-17843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43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012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58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162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573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4312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288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400" b="1" dirty="0" smtClean="0"/>
              <a:t>Measure</a:t>
            </a:r>
          </a:p>
          <a:p>
            <a:pPr lvl="1" algn="just"/>
            <a:r>
              <a:rPr lang="en-US" altLang="en-US" sz="2200" b="1" dirty="0" smtClean="0"/>
              <a:t>A quantitative indication of an attribute </a:t>
            </a:r>
          </a:p>
          <a:p>
            <a:pPr lvl="2" algn="just"/>
            <a:r>
              <a:rPr lang="en-US" altLang="en-US" sz="2000" b="1" dirty="0" smtClean="0"/>
              <a:t>Kilometers is a measure of distance</a:t>
            </a:r>
          </a:p>
          <a:p>
            <a:pPr lvl="2" algn="just"/>
            <a:r>
              <a:rPr lang="en-US" altLang="en-US" sz="2000" b="1" dirty="0" smtClean="0"/>
              <a:t>Centigrade is a measure of temperature</a:t>
            </a:r>
          </a:p>
          <a:p>
            <a:pPr lvl="2" algn="just"/>
            <a:r>
              <a:rPr lang="en-US" altLang="en-US" sz="2000" b="1" dirty="0" smtClean="0"/>
              <a:t>Person Hours is a measure of effort</a:t>
            </a:r>
          </a:p>
          <a:p>
            <a:pPr lvl="1" algn="just"/>
            <a:r>
              <a:rPr lang="en-US" altLang="en-US" sz="2200" b="1" dirty="0" smtClean="0"/>
              <a:t>Measures are the fundamental building blocks of a measurement system</a:t>
            </a:r>
          </a:p>
          <a:p>
            <a:pPr algn="just"/>
            <a:r>
              <a:rPr lang="en-US" altLang="en-US" sz="2400" b="1" dirty="0" smtClean="0"/>
              <a:t>Measurement</a:t>
            </a:r>
          </a:p>
          <a:p>
            <a:pPr lvl="1" algn="just"/>
            <a:r>
              <a:rPr lang="en-US" altLang="en-US" sz="2000" b="1" dirty="0" smtClean="0"/>
              <a:t>The act of determining a measure of something</a:t>
            </a:r>
          </a:p>
          <a:p>
            <a:pPr lvl="1" algn="just"/>
            <a:r>
              <a:rPr lang="en-US" altLang="en-US" sz="2000" b="1" dirty="0" smtClean="0"/>
              <a:t>and assigning an exact quantitative value </a:t>
            </a:r>
          </a:p>
          <a:p>
            <a:pPr lvl="1" algn="just"/>
            <a:r>
              <a:rPr lang="en-US" altLang="en-US" sz="2000" b="1" dirty="0" smtClean="0"/>
              <a:t>4 km, 30</a:t>
            </a:r>
            <a:r>
              <a:rPr lang="en-US" altLang="en-US" sz="2000" b="1" baseline="30000" dirty="0" smtClean="0"/>
              <a:t>o </a:t>
            </a:r>
            <a:r>
              <a:rPr lang="en-US" altLang="en-US" sz="2000" b="1" dirty="0" smtClean="0"/>
              <a:t>C,  50 Kg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5914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Quality Assurance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 b="1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IN" b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IN" b="1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b="1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b="1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en-IN" b="1"/>
          </a:p>
        </p:txBody>
      </p:sp>
      <p:sp>
        <p:nvSpPr>
          <p:cNvPr id="13" name="Rectangle 2"/>
          <p:cNvSpPr>
            <a:spLocks noGrp="1" noChangeArrowheads="1"/>
          </p:cNvSpPr>
          <p:nvPr>
            <p:ph sz="quarter" idx="11"/>
          </p:nvPr>
        </p:nvSpPr>
        <p:spPr>
          <a:xfrm>
            <a:off x="342900" y="1721086"/>
            <a:ext cx="8458200" cy="612476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000" b="1" dirty="0"/>
              <a:t>A relation established between basic measures, which can serve to provide indicator. Usually expressed to indicate efficiency or performance</a:t>
            </a:r>
          </a:p>
          <a:p>
            <a:pPr algn="just">
              <a:lnSpc>
                <a:spcPct val="80000"/>
              </a:lnSpc>
            </a:pPr>
            <a:endParaRPr lang="en-US" altLang="en-US" sz="2000" b="1" dirty="0"/>
          </a:p>
          <a:p>
            <a:pPr lvl="2" algn="just">
              <a:lnSpc>
                <a:spcPct val="80000"/>
              </a:lnSpc>
            </a:pPr>
            <a:r>
              <a:rPr lang="en-US" altLang="en-US" sz="2000" b="1" dirty="0"/>
              <a:t>Speed (A relation of two different measures speed and time)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 dirty="0"/>
              <a:t>% RBC content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 dirty="0"/>
              <a:t>Effort variance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 dirty="0"/>
              <a:t>Defect Density</a:t>
            </a:r>
          </a:p>
          <a:p>
            <a:pPr lvl="2" algn="just">
              <a:lnSpc>
                <a:spcPct val="80000"/>
              </a:lnSpc>
            </a:pPr>
            <a:endParaRPr lang="en-US" altLang="en-US" sz="2000" b="1" dirty="0"/>
          </a:p>
          <a:p>
            <a:pPr algn="just">
              <a:lnSpc>
                <a:spcPct val="80000"/>
              </a:lnSpc>
            </a:pPr>
            <a:r>
              <a:rPr lang="en-US" altLang="en-US" sz="2000" b="1" dirty="0"/>
              <a:t>Basis for comparison with standards / benchmarks </a:t>
            </a:r>
          </a:p>
          <a:p>
            <a:pPr lvl="1" algn="just">
              <a:lnSpc>
                <a:spcPct val="80000"/>
              </a:lnSpc>
            </a:pPr>
            <a:endParaRPr lang="en-US" altLang="en-US" sz="2000" b="1" dirty="0"/>
          </a:p>
          <a:p>
            <a:pPr algn="just">
              <a:lnSpc>
                <a:spcPct val="80000"/>
              </a:lnSpc>
            </a:pPr>
            <a:r>
              <a:rPr lang="en-US" altLang="en-US" sz="2000" b="1" dirty="0"/>
              <a:t>In software industry a metric shall be used to indicate the performance of the </a:t>
            </a:r>
            <a:r>
              <a:rPr lang="en-US" altLang="en-US" sz="2000" b="1" dirty="0" smtClean="0"/>
              <a:t>process and </a:t>
            </a:r>
            <a:r>
              <a:rPr lang="en-US" altLang="en-US" sz="2000" b="1" dirty="0"/>
              <a:t>product (i.e. software</a:t>
            </a:r>
            <a:r>
              <a:rPr lang="en-US" altLang="en-US" sz="2000" b="1" dirty="0" smtClean="0"/>
              <a:t>)</a:t>
            </a:r>
            <a:endParaRPr lang="en-US" altLang="en-US" sz="2000" b="1" i="1" dirty="0"/>
          </a:p>
        </p:txBody>
      </p:sp>
      <p:sp>
        <p:nvSpPr>
          <p:cNvPr id="14" name="Rectangle 13"/>
          <p:cNvSpPr/>
          <p:nvPr/>
        </p:nvSpPr>
        <p:spPr>
          <a:xfrm>
            <a:off x="617836" y="1087648"/>
            <a:ext cx="28895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dirty="0"/>
              <a:t>What is a Metric ?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0691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Software Quality Assurance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en-US" sz="2800" b="1" dirty="0"/>
              <a:t>Basic Measures in Software Industry</a:t>
            </a:r>
            <a:endParaRPr lang="en-IN" sz="2800" b="1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57200" y="1981200"/>
            <a:ext cx="8229600" cy="4267200"/>
          </a:xfrm>
          <a:prstGeom prst="rect">
            <a:avLst/>
          </a:prstGeom>
        </p:spPr>
        <p:txBody>
          <a:bodyPr/>
          <a:lstStyle>
            <a:lvl1pPr marL="213995" indent="-21399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4185" indent="-17843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43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012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58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162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573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4312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28875" indent="-142875" algn="l" defTabSz="5715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 dirty="0" smtClean="0"/>
              <a:t>Size (</a:t>
            </a:r>
            <a:r>
              <a:rPr lang="en-US" altLang="en-US" b="1" dirty="0" smtClean="0"/>
              <a:t>KLOC/FP)</a:t>
            </a:r>
          </a:p>
          <a:p>
            <a:r>
              <a:rPr lang="en-US" altLang="en-US" sz="2400" b="1" dirty="0" smtClean="0"/>
              <a:t>Effort</a:t>
            </a:r>
          </a:p>
          <a:p>
            <a:r>
              <a:rPr lang="en-US" altLang="en-US" sz="2400" b="1" dirty="0" smtClean="0"/>
              <a:t>Schedule</a:t>
            </a:r>
          </a:p>
          <a:p>
            <a:r>
              <a:rPr lang="en-US" altLang="en-US" sz="2400" b="1" dirty="0" smtClean="0"/>
              <a:t>Defects – Review Defects, Testing defects</a:t>
            </a: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6086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5818"/>
            <a:ext cx="8229600" cy="914400"/>
          </a:xfrm>
        </p:spPr>
        <p:txBody>
          <a:bodyPr/>
          <a:lstStyle/>
          <a:p>
            <a:pPr algn="l"/>
            <a:r>
              <a:rPr lang="en-US" altLang="en-US" sz="3200" b="1" dirty="0">
                <a:latin typeface="+mn-lt"/>
              </a:rPr>
              <a:t>Data Collection for metrics</a:t>
            </a:r>
            <a:endParaRPr lang="en-IN" sz="3200" b="1" dirty="0">
              <a:latin typeface="+mn-lt"/>
            </a:endParaRP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algn="just"/>
            <a:r>
              <a:rPr lang="en-US" altLang="en-US" sz="2400" dirty="0"/>
              <a:t>Operational activities of measurement begin with collecting data</a:t>
            </a:r>
          </a:p>
          <a:p>
            <a:pPr algn="just"/>
            <a:r>
              <a:rPr lang="en-US" altLang="en-US" sz="2400" dirty="0"/>
              <a:t>Start collecting data right from the beginning.</a:t>
            </a:r>
          </a:p>
          <a:p>
            <a:pPr algn="just"/>
            <a:endParaRPr lang="en-US" altLang="en-US" dirty="0"/>
          </a:p>
        </p:txBody>
      </p:sp>
      <p:sp>
        <p:nvSpPr>
          <p:cNvPr id="410628" name="Rectangle 4"/>
          <p:cNvSpPr>
            <a:spLocks noChangeArrowheads="1"/>
          </p:cNvSpPr>
          <p:nvPr/>
        </p:nvSpPr>
        <p:spPr bwMode="auto">
          <a:xfrm>
            <a:off x="1447800" y="3886200"/>
            <a:ext cx="6400800" cy="2209800"/>
          </a:xfrm>
          <a:prstGeom prst="rect">
            <a:avLst/>
          </a:prstGeom>
          <a:noFill/>
          <a:ln w="28575">
            <a:solidFill>
              <a:srgbClr val="33CC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D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914400" y="4729163"/>
            <a:ext cx="714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400" b="1">
                <a:solidFill>
                  <a:srgbClr val="CC0099"/>
                </a:solidFill>
              </a:rPr>
              <a:t>Inputs</a:t>
            </a:r>
          </a:p>
        </p:txBody>
      </p:sp>
      <p:sp>
        <p:nvSpPr>
          <p:cNvPr id="410630" name="Text Box 6"/>
          <p:cNvSpPr txBox="1">
            <a:spLocks noChangeArrowheads="1"/>
          </p:cNvSpPr>
          <p:nvPr/>
        </p:nvSpPr>
        <p:spPr bwMode="auto">
          <a:xfrm>
            <a:off x="7467600" y="5262563"/>
            <a:ext cx="8620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400" b="1">
                <a:solidFill>
                  <a:srgbClr val="CC0099"/>
                </a:solidFill>
              </a:rPr>
              <a:t>Outputs</a:t>
            </a:r>
          </a:p>
        </p:txBody>
      </p:sp>
      <p:sp>
        <p:nvSpPr>
          <p:cNvPr id="410631" name="Rectangle 7"/>
          <p:cNvSpPr>
            <a:spLocks noChangeArrowheads="1"/>
          </p:cNvSpPr>
          <p:nvPr/>
        </p:nvSpPr>
        <p:spPr bwMode="auto">
          <a:xfrm>
            <a:off x="1676400" y="4953000"/>
            <a:ext cx="1371600" cy="381000"/>
          </a:xfrm>
          <a:prstGeom prst="rect">
            <a:avLst/>
          </a:prstGeom>
          <a:solidFill>
            <a:srgbClr val="F8F8F8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1400" b="1">
                <a:solidFill>
                  <a:schemeClr val="accent2"/>
                </a:solidFill>
              </a:rPr>
              <a:t>Requirements</a:t>
            </a:r>
          </a:p>
        </p:txBody>
      </p:sp>
      <p:sp>
        <p:nvSpPr>
          <p:cNvPr id="410632" name="Rectangle 8"/>
          <p:cNvSpPr>
            <a:spLocks noChangeArrowheads="1"/>
          </p:cNvSpPr>
          <p:nvPr/>
        </p:nvSpPr>
        <p:spPr bwMode="auto">
          <a:xfrm>
            <a:off x="3352800" y="4953000"/>
            <a:ext cx="990600" cy="381000"/>
          </a:xfrm>
          <a:prstGeom prst="rect">
            <a:avLst/>
          </a:prstGeom>
          <a:solidFill>
            <a:srgbClr val="F8F8F8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1400" b="1">
                <a:solidFill>
                  <a:schemeClr val="accent2"/>
                </a:solidFill>
              </a:rPr>
              <a:t>Design</a:t>
            </a:r>
          </a:p>
        </p:txBody>
      </p:sp>
      <p:sp>
        <p:nvSpPr>
          <p:cNvPr id="410633" name="Rectangle 9"/>
          <p:cNvSpPr>
            <a:spLocks noChangeArrowheads="1"/>
          </p:cNvSpPr>
          <p:nvPr/>
        </p:nvSpPr>
        <p:spPr bwMode="auto">
          <a:xfrm>
            <a:off x="4724400" y="4953000"/>
            <a:ext cx="1371600" cy="381000"/>
          </a:xfrm>
          <a:prstGeom prst="rect">
            <a:avLst/>
          </a:prstGeom>
          <a:solidFill>
            <a:srgbClr val="F8F8F8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1400" b="1">
                <a:solidFill>
                  <a:schemeClr val="accent2"/>
                </a:solidFill>
              </a:rPr>
              <a:t>Code &amp; </a:t>
            </a:r>
          </a:p>
          <a:p>
            <a:pPr algn="ctr" eaLnBrk="0" hangingPunct="0"/>
            <a:r>
              <a:rPr lang="en-US" altLang="en-US" sz="1400" b="1">
                <a:solidFill>
                  <a:schemeClr val="accent2"/>
                </a:solidFill>
              </a:rPr>
              <a:t>Unit Test</a:t>
            </a:r>
          </a:p>
        </p:txBody>
      </p:sp>
      <p:sp>
        <p:nvSpPr>
          <p:cNvPr id="410634" name="Rectangle 10"/>
          <p:cNvSpPr>
            <a:spLocks noChangeArrowheads="1"/>
          </p:cNvSpPr>
          <p:nvPr/>
        </p:nvSpPr>
        <p:spPr bwMode="auto">
          <a:xfrm>
            <a:off x="6400800" y="4953000"/>
            <a:ext cx="990600" cy="381000"/>
          </a:xfrm>
          <a:prstGeom prst="rect">
            <a:avLst/>
          </a:prstGeom>
          <a:solidFill>
            <a:srgbClr val="F8F8F8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1400" b="1">
                <a:solidFill>
                  <a:schemeClr val="accent2"/>
                </a:solidFill>
              </a:rPr>
              <a:t>Integrate</a:t>
            </a:r>
          </a:p>
        </p:txBody>
      </p:sp>
      <p:sp>
        <p:nvSpPr>
          <p:cNvPr id="410635" name="Line 11"/>
          <p:cNvSpPr>
            <a:spLocks noChangeShapeType="1"/>
          </p:cNvSpPr>
          <p:nvPr/>
        </p:nvSpPr>
        <p:spPr bwMode="auto">
          <a:xfrm>
            <a:off x="1066800" y="5181600"/>
            <a:ext cx="6096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36" name="Line 12"/>
          <p:cNvSpPr>
            <a:spLocks noChangeShapeType="1"/>
          </p:cNvSpPr>
          <p:nvPr/>
        </p:nvSpPr>
        <p:spPr bwMode="auto">
          <a:xfrm>
            <a:off x="3048000" y="5181600"/>
            <a:ext cx="3810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37" name="Line 13"/>
          <p:cNvSpPr>
            <a:spLocks noChangeShapeType="1"/>
          </p:cNvSpPr>
          <p:nvPr/>
        </p:nvSpPr>
        <p:spPr bwMode="auto">
          <a:xfrm>
            <a:off x="4343400" y="5181600"/>
            <a:ext cx="3810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38" name="Line 14"/>
          <p:cNvSpPr>
            <a:spLocks noChangeShapeType="1"/>
          </p:cNvSpPr>
          <p:nvPr/>
        </p:nvSpPr>
        <p:spPr bwMode="auto">
          <a:xfrm>
            <a:off x="6096000" y="5181600"/>
            <a:ext cx="3048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39" name="Line 15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0" name="Line 16"/>
          <p:cNvSpPr>
            <a:spLocks noChangeShapeType="1"/>
          </p:cNvSpPr>
          <p:nvPr/>
        </p:nvSpPr>
        <p:spPr bwMode="auto">
          <a:xfrm>
            <a:off x="1524000" y="5181600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1" name="Line 17"/>
          <p:cNvSpPr>
            <a:spLocks noChangeShapeType="1"/>
          </p:cNvSpPr>
          <p:nvPr/>
        </p:nvSpPr>
        <p:spPr bwMode="auto">
          <a:xfrm>
            <a:off x="3200400" y="5181600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2" name="Line 18"/>
          <p:cNvSpPr>
            <a:spLocks noChangeShapeType="1"/>
          </p:cNvSpPr>
          <p:nvPr/>
        </p:nvSpPr>
        <p:spPr bwMode="auto">
          <a:xfrm>
            <a:off x="1524000" y="5791200"/>
            <a:ext cx="16764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3" name="Line 19"/>
          <p:cNvSpPr>
            <a:spLocks noChangeShapeType="1"/>
          </p:cNvSpPr>
          <p:nvPr/>
        </p:nvSpPr>
        <p:spPr bwMode="auto">
          <a:xfrm>
            <a:off x="4495800" y="5181600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4" name="Line 20"/>
          <p:cNvSpPr>
            <a:spLocks noChangeShapeType="1"/>
          </p:cNvSpPr>
          <p:nvPr/>
        </p:nvSpPr>
        <p:spPr bwMode="auto">
          <a:xfrm>
            <a:off x="6172200" y="5181600"/>
            <a:ext cx="0" cy="6096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5" name="Line 21"/>
          <p:cNvSpPr>
            <a:spLocks noChangeShapeType="1"/>
          </p:cNvSpPr>
          <p:nvPr/>
        </p:nvSpPr>
        <p:spPr bwMode="auto">
          <a:xfrm>
            <a:off x="4495800" y="5791200"/>
            <a:ext cx="16764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6" name="Oval 22"/>
          <p:cNvSpPr>
            <a:spLocks noChangeArrowheads="1"/>
          </p:cNvSpPr>
          <p:nvPr/>
        </p:nvSpPr>
        <p:spPr bwMode="auto">
          <a:xfrm>
            <a:off x="2819400" y="2819400"/>
            <a:ext cx="762000" cy="7620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CC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647" name="Line 23"/>
          <p:cNvSpPr>
            <a:spLocks noChangeShapeType="1"/>
          </p:cNvSpPr>
          <p:nvPr/>
        </p:nvSpPr>
        <p:spPr bwMode="auto">
          <a:xfrm>
            <a:off x="3200400" y="28194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8" name="Line 24"/>
          <p:cNvSpPr>
            <a:spLocks noChangeShapeType="1"/>
          </p:cNvSpPr>
          <p:nvPr/>
        </p:nvSpPr>
        <p:spPr bwMode="auto">
          <a:xfrm>
            <a:off x="3200400" y="34290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49" name="Line 25"/>
          <p:cNvSpPr>
            <a:spLocks noChangeShapeType="1"/>
          </p:cNvSpPr>
          <p:nvPr/>
        </p:nvSpPr>
        <p:spPr bwMode="auto">
          <a:xfrm rot="-5400000">
            <a:off x="3505200" y="31242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0" name="Line 26"/>
          <p:cNvSpPr>
            <a:spLocks noChangeShapeType="1"/>
          </p:cNvSpPr>
          <p:nvPr/>
        </p:nvSpPr>
        <p:spPr bwMode="auto">
          <a:xfrm rot="-5400000">
            <a:off x="2895600" y="31242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1" name="Line 27"/>
          <p:cNvSpPr>
            <a:spLocks noChangeShapeType="1"/>
          </p:cNvSpPr>
          <p:nvPr/>
        </p:nvSpPr>
        <p:spPr bwMode="auto">
          <a:xfrm rot="-8028390">
            <a:off x="3352006" y="2896394"/>
            <a:ext cx="1588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2" name="Line 28"/>
          <p:cNvSpPr>
            <a:spLocks noChangeShapeType="1"/>
          </p:cNvSpPr>
          <p:nvPr/>
        </p:nvSpPr>
        <p:spPr bwMode="auto">
          <a:xfrm rot="-8028390">
            <a:off x="2971006" y="3352007"/>
            <a:ext cx="1587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3" name="Line 29"/>
          <p:cNvSpPr>
            <a:spLocks noChangeShapeType="1"/>
          </p:cNvSpPr>
          <p:nvPr/>
        </p:nvSpPr>
        <p:spPr bwMode="auto">
          <a:xfrm rot="-13634929">
            <a:off x="3428206" y="3352007"/>
            <a:ext cx="1587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4" name="Line 30"/>
          <p:cNvSpPr>
            <a:spLocks noChangeShapeType="1"/>
          </p:cNvSpPr>
          <p:nvPr/>
        </p:nvSpPr>
        <p:spPr bwMode="auto">
          <a:xfrm rot="-13634929">
            <a:off x="2971006" y="2896394"/>
            <a:ext cx="1588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5" name="Oval 31"/>
          <p:cNvSpPr>
            <a:spLocks noChangeArrowheads="1"/>
          </p:cNvSpPr>
          <p:nvPr/>
        </p:nvSpPr>
        <p:spPr bwMode="auto">
          <a:xfrm>
            <a:off x="3149600" y="3149600"/>
            <a:ext cx="100013" cy="1000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656" name="Line 32"/>
          <p:cNvSpPr>
            <a:spLocks noChangeShapeType="1"/>
          </p:cNvSpPr>
          <p:nvPr/>
        </p:nvSpPr>
        <p:spPr bwMode="auto">
          <a:xfrm rot="10740867">
            <a:off x="3022600" y="3009900"/>
            <a:ext cx="762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7" name="Line 33"/>
          <p:cNvSpPr>
            <a:spLocks noChangeShapeType="1"/>
          </p:cNvSpPr>
          <p:nvPr/>
        </p:nvSpPr>
        <p:spPr bwMode="auto">
          <a:xfrm flipV="1">
            <a:off x="3200400" y="3581400"/>
            <a:ext cx="0" cy="16002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58" name="Oval 34"/>
          <p:cNvSpPr>
            <a:spLocks noChangeArrowheads="1"/>
          </p:cNvSpPr>
          <p:nvPr/>
        </p:nvSpPr>
        <p:spPr bwMode="auto">
          <a:xfrm>
            <a:off x="5867400" y="2819400"/>
            <a:ext cx="762000" cy="7620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CC00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659" name="Line 35"/>
          <p:cNvSpPr>
            <a:spLocks noChangeShapeType="1"/>
          </p:cNvSpPr>
          <p:nvPr/>
        </p:nvSpPr>
        <p:spPr bwMode="auto">
          <a:xfrm>
            <a:off x="6248400" y="28194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0" name="Line 36"/>
          <p:cNvSpPr>
            <a:spLocks noChangeShapeType="1"/>
          </p:cNvSpPr>
          <p:nvPr/>
        </p:nvSpPr>
        <p:spPr bwMode="auto">
          <a:xfrm>
            <a:off x="6248400" y="34290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1" name="Line 37"/>
          <p:cNvSpPr>
            <a:spLocks noChangeShapeType="1"/>
          </p:cNvSpPr>
          <p:nvPr/>
        </p:nvSpPr>
        <p:spPr bwMode="auto">
          <a:xfrm rot="-5400000">
            <a:off x="6553200" y="31242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2" name="Line 38"/>
          <p:cNvSpPr>
            <a:spLocks noChangeShapeType="1"/>
          </p:cNvSpPr>
          <p:nvPr/>
        </p:nvSpPr>
        <p:spPr bwMode="auto">
          <a:xfrm rot="-5400000">
            <a:off x="5943600" y="3124200"/>
            <a:ext cx="0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3" name="Line 39"/>
          <p:cNvSpPr>
            <a:spLocks noChangeShapeType="1"/>
          </p:cNvSpPr>
          <p:nvPr/>
        </p:nvSpPr>
        <p:spPr bwMode="auto">
          <a:xfrm rot="-8028390">
            <a:off x="6400006" y="2896394"/>
            <a:ext cx="1588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4" name="Line 40"/>
          <p:cNvSpPr>
            <a:spLocks noChangeShapeType="1"/>
          </p:cNvSpPr>
          <p:nvPr/>
        </p:nvSpPr>
        <p:spPr bwMode="auto">
          <a:xfrm rot="-8028390">
            <a:off x="6019006" y="3352007"/>
            <a:ext cx="1587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5" name="Line 41"/>
          <p:cNvSpPr>
            <a:spLocks noChangeShapeType="1"/>
          </p:cNvSpPr>
          <p:nvPr/>
        </p:nvSpPr>
        <p:spPr bwMode="auto">
          <a:xfrm rot="-13634929">
            <a:off x="6476206" y="3352007"/>
            <a:ext cx="1587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6" name="Line 42"/>
          <p:cNvSpPr>
            <a:spLocks noChangeShapeType="1"/>
          </p:cNvSpPr>
          <p:nvPr/>
        </p:nvSpPr>
        <p:spPr bwMode="auto">
          <a:xfrm rot="-13634929">
            <a:off x="6019006" y="2896394"/>
            <a:ext cx="1588" cy="1524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7" name="Oval 43"/>
          <p:cNvSpPr>
            <a:spLocks noChangeArrowheads="1"/>
          </p:cNvSpPr>
          <p:nvPr/>
        </p:nvSpPr>
        <p:spPr bwMode="auto">
          <a:xfrm>
            <a:off x="6197600" y="3149600"/>
            <a:ext cx="100013" cy="1000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10668" name="Line 44"/>
          <p:cNvSpPr>
            <a:spLocks noChangeShapeType="1"/>
          </p:cNvSpPr>
          <p:nvPr/>
        </p:nvSpPr>
        <p:spPr bwMode="auto">
          <a:xfrm rot="16140868">
            <a:off x="6350000" y="3009900"/>
            <a:ext cx="76200" cy="76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69" name="Line 45"/>
          <p:cNvSpPr>
            <a:spLocks noChangeShapeType="1"/>
          </p:cNvSpPr>
          <p:nvPr/>
        </p:nvSpPr>
        <p:spPr bwMode="auto">
          <a:xfrm flipV="1">
            <a:off x="6248400" y="3581400"/>
            <a:ext cx="0" cy="160020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" name="Title 1"/>
          <p:cNvSpPr txBox="1">
            <a:spLocks/>
          </p:cNvSpPr>
          <p:nvPr/>
        </p:nvSpPr>
        <p:spPr>
          <a:xfrm>
            <a:off x="342900" y="304800"/>
            <a:ext cx="8458200" cy="678611"/>
          </a:xfrm>
        </p:spPr>
        <p:txBody>
          <a:bodyPr>
            <a:normAutofit fontScale="97500"/>
          </a:bodyPr>
          <a:lstStyle>
            <a:lvl1pPr algn="ctr" defTabSz="571500" rtl="0" eaLnBrk="1" latinLnBrk="0" hangingPunct="1">
              <a:spcBef>
                <a:spcPct val="0"/>
              </a:spcBef>
              <a:buNone/>
              <a:defRPr sz="275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+mn-lt"/>
              </a:rPr>
              <a:t>Software Quality Assurance</a:t>
            </a:r>
            <a:endParaRPr lang="en-IN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88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215660" y="1231519"/>
            <a:ext cx="83935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Objectives of quality measurement </a:t>
            </a:r>
            <a:endParaRPr lang="en-US" sz="2400" b="1" dirty="0" smtClean="0"/>
          </a:p>
          <a:p>
            <a:pPr marL="457200" indent="-457200">
              <a:buAutoNum type="arabicPeriod"/>
            </a:pPr>
            <a:r>
              <a:rPr lang="en-US" sz="2400" b="1" dirty="0" smtClean="0"/>
              <a:t>To </a:t>
            </a:r>
            <a:r>
              <a:rPr lang="en-US" sz="2400" b="1" u="sng" dirty="0" smtClean="0"/>
              <a:t>facilitate management control </a:t>
            </a:r>
            <a:r>
              <a:rPr lang="en-US" sz="2400" b="1" dirty="0" smtClean="0"/>
              <a:t>as well as planning and execution of the appropriate managerial interventions:</a:t>
            </a:r>
          </a:p>
          <a:p>
            <a:r>
              <a:rPr lang="en-US" sz="2400" b="1" dirty="0" smtClean="0"/>
              <a:t>Could be achieved based on metrics collected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Deviations of actual performance from planned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Deviations of actual timetable – schedule and budget performance from planned performance</a:t>
            </a:r>
          </a:p>
          <a:p>
            <a:r>
              <a:rPr lang="en-US" sz="2400" b="1" dirty="0" smtClean="0"/>
              <a:t>2. To identify situations that </a:t>
            </a:r>
            <a:r>
              <a:rPr lang="en-US" sz="2400" b="1" u="sng" dirty="0" smtClean="0"/>
              <a:t>require improvement – preventive or corrective </a:t>
            </a:r>
          </a:p>
          <a:p>
            <a:r>
              <a:rPr lang="en-US" sz="2400" b="1" dirty="0"/>
              <a:t>Could be achieved </a:t>
            </a:r>
            <a:r>
              <a:rPr lang="en-US" sz="2400" b="1" dirty="0" smtClean="0"/>
              <a:t>based </a:t>
            </a:r>
            <a:r>
              <a:rPr lang="en-US" sz="2400" b="1" dirty="0"/>
              <a:t>on </a:t>
            </a:r>
            <a:r>
              <a:rPr lang="en-US" sz="2400" b="1" dirty="0" smtClean="0"/>
              <a:t>accumulation of metrics regarding the performance of teams, units </a:t>
            </a:r>
            <a:r>
              <a:rPr lang="en-US" sz="2400" b="1" dirty="0" err="1" smtClean="0"/>
              <a:t>etc</a:t>
            </a:r>
            <a:endParaRPr lang="en-US" sz="2400" b="1" dirty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681316" y="423496"/>
            <a:ext cx="4884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Software Quality Assurance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88189" y="705309"/>
            <a:ext cx="829861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Comparison provides the practical basis for SQA improvement 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Comparison is done between performance data with </a:t>
            </a:r>
            <a:r>
              <a:rPr lang="en-US" sz="2400" b="1" u="sng" dirty="0" smtClean="0"/>
              <a:t>indicators – quantitative values, such 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Defined software quality standards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Quality targets set for organizations or individuals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Previous project’s quality achievements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Average quality levels achieved by other teams in similar conditions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Industry practice for meeting quality requirements 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Software quality metrics – requirements – self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0712" y="199209"/>
            <a:ext cx="48842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/>
              <a:t>Software Quality Assurance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561381" y="60927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188" y="895868"/>
            <a:ext cx="80829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595222" y="645702"/>
            <a:ext cx="7875918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prstClr val="black"/>
                </a:solidFill>
              </a:rPr>
              <a:t>Classification of software quality </a:t>
            </a:r>
            <a:r>
              <a:rPr lang="en-IN" sz="2800" b="1" dirty="0" smtClean="0">
                <a:solidFill>
                  <a:prstClr val="black"/>
                </a:solidFill>
              </a:rPr>
              <a:t>metrics</a:t>
            </a:r>
          </a:p>
          <a:p>
            <a:r>
              <a:rPr lang="en-US" sz="2800" b="1" dirty="0" smtClean="0">
                <a:solidFill>
                  <a:prstClr val="black"/>
                </a:solidFill>
              </a:rPr>
              <a:t>Software quality metrics fall into a number of categories. </a:t>
            </a:r>
            <a:endParaRPr lang="en-US" sz="2800" b="1" dirty="0">
              <a:solidFill>
                <a:prstClr val="black"/>
              </a:solidFill>
            </a:endParaRPr>
          </a:p>
          <a:p>
            <a:r>
              <a:rPr lang="en-US" sz="2800" b="1" dirty="0" smtClean="0">
                <a:solidFill>
                  <a:prstClr val="black"/>
                </a:solidFill>
              </a:rPr>
              <a:t>The first category</a:t>
            </a:r>
          </a:p>
          <a:p>
            <a:pPr lvl="1"/>
            <a:r>
              <a:rPr lang="en-US" sz="2800" b="1" dirty="0" smtClean="0">
                <a:solidFill>
                  <a:prstClr val="black"/>
                </a:solidFill>
              </a:rPr>
              <a:t>a. Process metrics </a:t>
            </a: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related to the software development process</a:t>
            </a:r>
            <a:endParaRPr lang="en-US" sz="2800" b="1" dirty="0" smtClean="0">
              <a:solidFill>
                <a:prstClr val="black"/>
              </a:solidFill>
            </a:endParaRPr>
          </a:p>
          <a:p>
            <a:pPr lvl="1"/>
            <a:r>
              <a:rPr lang="en-US" sz="2800" b="1" dirty="0" smtClean="0">
                <a:solidFill>
                  <a:prstClr val="black"/>
                </a:solidFill>
              </a:rPr>
              <a:t>b. Product metrics </a:t>
            </a: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related to software maintenance </a:t>
            </a:r>
          </a:p>
          <a:p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The second category of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Quality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Timetable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Effectiveness (of error removal and maintenance service)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Productivity</a:t>
            </a:r>
          </a:p>
          <a:p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smtClean="0">
              <a:solidFill>
                <a:srgbClr val="CCCCE6"/>
              </a:solidFill>
            </a:endParaRP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569285-DEAE-41D3-B68F-C831DB7E768D}" type="slidenum">
              <a:rPr lang="en-US" altLang="en-US" sz="1000" smtClean="0">
                <a:solidFill>
                  <a:srgbClr val="000000"/>
                </a:solidFill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 smtClean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                                                                                               </a:t>
            </a:r>
            <a:br>
              <a:rPr lang="en-US" altLang="en-US" sz="3200" dirty="0" smtClean="0"/>
            </a:br>
            <a:r>
              <a:rPr lang="en-US" altLang="en-US" sz="3200" dirty="0"/>
              <a:t> </a:t>
            </a:r>
            <a:r>
              <a:rPr lang="en-US" altLang="en-US" sz="3200" dirty="0" smtClean="0"/>
              <a:t>                                                                                             </a:t>
            </a:r>
            <a:r>
              <a:rPr lang="en-US" altLang="en-US" sz="3200" b="1" dirty="0" smtClean="0">
                <a:latin typeface="+mn-lt"/>
              </a:rPr>
              <a:t>Categories Of Metrics</a:t>
            </a:r>
          </a:p>
        </p:txBody>
      </p:sp>
      <p:pic>
        <p:nvPicPr>
          <p:cNvPr id="25605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24200"/>
            <a:ext cx="28448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1408113" y="2366963"/>
            <a:ext cx="580866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Process Metrics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Feedback to improve the process, productivity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887413" y="5395913"/>
            <a:ext cx="3046412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Project Metrics</a:t>
            </a:r>
            <a:endParaRPr lang="en-US" altLang="en-US" sz="2000">
              <a:solidFill>
                <a:srgbClr val="000000"/>
              </a:solidFill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Track project progress</a:t>
            </a:r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4562475" y="5395913"/>
            <a:ext cx="30718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Product Metrics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Track quality of product</a:t>
            </a:r>
          </a:p>
        </p:txBody>
      </p:sp>
    </p:spTree>
    <p:extLst>
      <p:ext uri="{BB962C8B-B14F-4D97-AF65-F5344CB8AC3E}">
        <p14:creationId xmlns:p14="http://schemas.microsoft.com/office/powerpoint/2010/main" val="250189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946" y="1131774"/>
            <a:ext cx="796218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prstClr val="black"/>
                </a:solidFill>
              </a:rPr>
              <a:t>Software quality metrics </a:t>
            </a:r>
            <a:r>
              <a:rPr lang="en-US" sz="2800" b="1" dirty="0" smtClean="0">
                <a:solidFill>
                  <a:prstClr val="black"/>
                </a:solidFill>
              </a:rPr>
              <a:t>uses one of the two following measures for </a:t>
            </a:r>
            <a:r>
              <a:rPr lang="en-US" sz="2800" b="1" u="sng" dirty="0" smtClean="0">
                <a:solidFill>
                  <a:prstClr val="black"/>
                </a:solidFill>
              </a:rPr>
              <a:t>system size</a:t>
            </a:r>
            <a:r>
              <a:rPr lang="en-US" sz="2800" b="1" dirty="0" smtClean="0">
                <a:solidFill>
                  <a:prstClr val="black"/>
                </a:solidFill>
              </a:rPr>
              <a:t>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800" b="1" dirty="0" smtClean="0">
                <a:solidFill>
                  <a:prstClr val="black"/>
                </a:solidFill>
              </a:rPr>
              <a:t>KLOC </a:t>
            </a: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Kilo Line Of Code</a:t>
            </a:r>
          </a:p>
          <a:p>
            <a:pPr lvl="0"/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Specific to the programming language or development tool used</a:t>
            </a:r>
          </a:p>
          <a:p>
            <a:pPr lvl="0"/>
            <a:r>
              <a:rPr lang="en-US" sz="2800" b="1" dirty="0" smtClean="0">
                <a:solidFill>
                  <a:prstClr val="black"/>
                </a:solidFill>
              </a:rPr>
              <a:t>2. Function Point </a:t>
            </a:r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measure of resources required to develop a program</a:t>
            </a:r>
          </a:p>
          <a:p>
            <a:pPr lvl="0"/>
            <a:r>
              <a:rPr lang="en-US" sz="2800" b="1" dirty="0" smtClean="0">
                <a:solidFill>
                  <a:prstClr val="black"/>
                </a:solidFill>
                <a:sym typeface="Wingdings" panose="05000000000000000000" pitchFamily="2" charset="2"/>
              </a:rPr>
              <a:t>Based on functionality specified for the software system </a:t>
            </a:r>
            <a:endParaRPr lang="en-US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67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188" y="895868"/>
            <a:ext cx="8082952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b="1" dirty="0" smtClean="0">
              <a:solidFill>
                <a:srgbClr val="000000"/>
              </a:solidFill>
            </a:endParaRPr>
          </a:p>
          <a:p>
            <a:r>
              <a:rPr lang="en-IN" sz="2400" b="1" dirty="0" smtClean="0">
                <a:solidFill>
                  <a:srgbClr val="000000"/>
                </a:solidFill>
              </a:rPr>
              <a:t>Process metrics</a:t>
            </a:r>
          </a:p>
          <a:p>
            <a:r>
              <a:rPr lang="en-US" sz="2400" b="1" dirty="0" smtClean="0">
                <a:solidFill>
                  <a:srgbClr val="000000"/>
                </a:solidFill>
              </a:rPr>
              <a:t>Categories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 smtClean="0">
                <a:solidFill>
                  <a:srgbClr val="000000"/>
                </a:solidFill>
              </a:rPr>
              <a:t>Software process </a:t>
            </a:r>
            <a:r>
              <a:rPr lang="en-US" sz="2400" b="1" u="sng" dirty="0" smtClean="0">
                <a:solidFill>
                  <a:srgbClr val="000000"/>
                </a:solidFill>
              </a:rPr>
              <a:t>quality</a:t>
            </a:r>
            <a:r>
              <a:rPr lang="en-US" sz="2400" b="1" dirty="0" smtClean="0">
                <a:solidFill>
                  <a:srgbClr val="000000"/>
                </a:solidFill>
              </a:rPr>
              <a:t> metrics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 smtClean="0">
                <a:solidFill>
                  <a:srgbClr val="000000"/>
                </a:solidFill>
              </a:rPr>
              <a:t>Software process </a:t>
            </a:r>
            <a:r>
              <a:rPr lang="en-US" sz="2400" b="1" u="sng" dirty="0" smtClean="0">
                <a:solidFill>
                  <a:srgbClr val="000000"/>
                </a:solidFill>
              </a:rPr>
              <a:t>timetable</a:t>
            </a:r>
            <a:r>
              <a:rPr lang="en-US" sz="2400" b="1" dirty="0" smtClean="0">
                <a:solidFill>
                  <a:srgbClr val="000000"/>
                </a:solidFill>
              </a:rPr>
              <a:t> metrics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 smtClean="0">
                <a:solidFill>
                  <a:srgbClr val="000000"/>
                </a:solidFill>
              </a:rPr>
              <a:t>Error removal effectiveness metrics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 smtClean="0">
                <a:solidFill>
                  <a:srgbClr val="000000"/>
                </a:solidFill>
              </a:rPr>
              <a:t>Software process productivity metrics</a:t>
            </a:r>
          </a:p>
          <a:p>
            <a:r>
              <a:rPr lang="en-US" sz="2400" b="1" dirty="0" smtClean="0">
                <a:solidFill>
                  <a:srgbClr val="000000"/>
                </a:solidFill>
              </a:rPr>
              <a:t> 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 b="1" dirty="0">
                <a:solidFill>
                  <a:srgbClr val="000000"/>
                </a:solidFill>
              </a:rPr>
              <a:t>Software process quality </a:t>
            </a:r>
            <a:r>
              <a:rPr lang="en-US" sz="2400" b="1" dirty="0" smtClean="0">
                <a:solidFill>
                  <a:srgbClr val="000000"/>
                </a:solidFill>
              </a:rPr>
              <a:t>metrics:</a:t>
            </a:r>
          </a:p>
          <a:p>
            <a:r>
              <a:rPr lang="en-US" sz="2400" b="1" dirty="0" smtClean="0">
                <a:solidFill>
                  <a:srgbClr val="000000"/>
                </a:solidFill>
              </a:rPr>
              <a:t>Classified into two classes: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400" b="1" dirty="0" smtClean="0">
                <a:solidFill>
                  <a:srgbClr val="000000"/>
                </a:solidFill>
              </a:rPr>
              <a:t>Error density metrics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2400" b="1" dirty="0" smtClean="0">
                <a:solidFill>
                  <a:srgbClr val="000000"/>
                </a:solidFill>
              </a:rPr>
              <a:t>Error severity metrics</a:t>
            </a:r>
          </a:p>
          <a:p>
            <a:r>
              <a:rPr lang="en-US" sz="2400" b="1" dirty="0" smtClean="0">
                <a:solidFill>
                  <a:srgbClr val="000000"/>
                </a:solidFill>
              </a:rPr>
              <a:t>We shall see in detail</a:t>
            </a:r>
            <a:endParaRPr lang="en-US" sz="2400" b="1" dirty="0">
              <a:solidFill>
                <a:srgbClr val="000000"/>
              </a:solidFill>
            </a:endParaRPr>
          </a:p>
          <a:p>
            <a:endParaRPr lang="en-IN" sz="2400" b="1" dirty="0" smtClean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688439"/>
              </p:ext>
            </p:extLst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680286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6778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7127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188" y="895868"/>
            <a:ext cx="8082952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b="1" dirty="0" smtClean="0">
              <a:solidFill>
                <a:srgbClr val="000000"/>
              </a:solidFill>
            </a:endParaRPr>
          </a:p>
          <a:p>
            <a:r>
              <a:rPr lang="en-IN" sz="2400" b="1" dirty="0" smtClean="0">
                <a:solidFill>
                  <a:srgbClr val="000000"/>
                </a:solidFill>
              </a:rPr>
              <a:t>Process metrics</a:t>
            </a:r>
          </a:p>
          <a:p>
            <a:pPr marL="514350" indent="-514350">
              <a:buAutoNum type="romanLcPeriod"/>
            </a:pPr>
            <a:r>
              <a:rPr lang="en-US" sz="2400" b="1" dirty="0" smtClean="0">
                <a:solidFill>
                  <a:srgbClr val="000000"/>
                </a:solidFill>
              </a:rPr>
              <a:t>Error density metrics </a:t>
            </a:r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 involves a) software volume (size) b) errors counted </a:t>
            </a:r>
          </a:p>
          <a:p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NCE  Number of Code Errors</a:t>
            </a:r>
          </a:p>
          <a:p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WCE  Weighted number of Code Errors</a:t>
            </a:r>
          </a:p>
          <a:p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“Weight” is defined based on the severity of error</a:t>
            </a:r>
          </a:p>
          <a:p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For </a:t>
            </a:r>
            <a:r>
              <a:rPr lang="en-US" sz="2400" b="1" dirty="0" err="1" smtClean="0">
                <a:solidFill>
                  <a:srgbClr val="000000"/>
                </a:solidFill>
                <a:sym typeface="Wingdings" panose="05000000000000000000" pitchFamily="2" charset="2"/>
              </a:rPr>
              <a:t>eg</a:t>
            </a:r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.,</a:t>
            </a:r>
          </a:p>
          <a:p>
            <a:endParaRPr lang="en-US" sz="2400" b="1" dirty="0" smtClean="0">
              <a:solidFill>
                <a:srgbClr val="000000"/>
              </a:solidFill>
            </a:endParaRPr>
          </a:p>
          <a:p>
            <a:endParaRPr lang="en-IN" sz="2400" b="1" dirty="0" smtClean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37182"/>
              </p:ext>
            </p:extLst>
          </p:nvPr>
        </p:nvGraphicFramePr>
        <p:xfrm>
          <a:off x="744748" y="4002177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4201473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92600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Error Severity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Relative Weight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Low severity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44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Medium severity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597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High severity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08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74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680286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46778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27127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188" y="895868"/>
            <a:ext cx="8082952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00"/>
                </a:solidFill>
              </a:rPr>
              <a:t>For </a:t>
            </a:r>
            <a:r>
              <a:rPr lang="en-US" sz="2400" b="1" dirty="0" err="1" smtClean="0">
                <a:solidFill>
                  <a:srgbClr val="000000"/>
                </a:solidFill>
              </a:rPr>
              <a:t>eg</a:t>
            </a:r>
            <a:r>
              <a:rPr lang="en-US" sz="2400" b="1" dirty="0" smtClean="0">
                <a:solidFill>
                  <a:srgbClr val="000000"/>
                </a:solidFill>
              </a:rPr>
              <a:t>., code error summary of a project </a:t>
            </a:r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 42 low, 17 medium and 11 high</a:t>
            </a:r>
          </a:p>
          <a:p>
            <a:r>
              <a:rPr lang="en-US" sz="2400" b="1" dirty="0" smtClean="0">
                <a:solidFill>
                  <a:srgbClr val="000000"/>
                </a:solidFill>
                <a:sym typeface="Wingdings" panose="05000000000000000000" pitchFamily="2" charset="2"/>
              </a:rPr>
              <a:t>Calculation of NCE (number of code errors) and  WCE </a:t>
            </a:r>
          </a:p>
          <a:p>
            <a:endParaRPr lang="en-US" sz="2400" b="1" dirty="0" smtClea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endParaRPr lang="en-IN" sz="2400" b="1" dirty="0" smtClean="0">
              <a:solidFill>
                <a:srgbClr val="000000"/>
              </a:solidFill>
            </a:endParaRPr>
          </a:p>
          <a:p>
            <a:endParaRPr lang="en-US" sz="2400" b="1" dirty="0" smtClean="0">
              <a:solidFill>
                <a:srgbClr val="000000"/>
              </a:solidFill>
            </a:endParaRPr>
          </a:p>
          <a:p>
            <a:endParaRPr lang="en-IN" sz="2400" b="1" dirty="0" smtClean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</a:endParaRPr>
          </a:p>
          <a:p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103469"/>
              </p:ext>
            </p:extLst>
          </p:nvPr>
        </p:nvGraphicFramePr>
        <p:xfrm>
          <a:off x="937404" y="2414917"/>
          <a:ext cx="6096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996">
                  <a:extLst>
                    <a:ext uri="{9D8B030D-6E8A-4147-A177-3AD203B41FA5}">
                      <a16:colId xmlns:a16="http://schemas.microsoft.com/office/drawing/2014/main" val="2287780978"/>
                    </a:ext>
                  </a:extLst>
                </a:gridCol>
                <a:gridCol w="2044460">
                  <a:extLst>
                    <a:ext uri="{9D8B030D-6E8A-4147-A177-3AD203B41FA5}">
                      <a16:colId xmlns:a16="http://schemas.microsoft.com/office/drawing/2014/main" val="2916021560"/>
                    </a:ext>
                  </a:extLst>
                </a:gridCol>
                <a:gridCol w="1788544">
                  <a:extLst>
                    <a:ext uri="{9D8B030D-6E8A-4147-A177-3AD203B41FA5}">
                      <a16:colId xmlns:a16="http://schemas.microsoft.com/office/drawing/2014/main" val="4283640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Error</a:t>
                      </a:r>
                      <a:r>
                        <a:rPr lang="en-US" sz="2000" baseline="0" dirty="0" smtClean="0"/>
                        <a:t> severity class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a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Calculation of NCE</a:t>
                      </a:r>
                    </a:p>
                    <a:p>
                      <a:pPr algn="ctr"/>
                      <a:r>
                        <a:rPr lang="en-US" sz="2000" dirty="0" smtClean="0"/>
                        <a:t>b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Calculation</a:t>
                      </a:r>
                      <a:r>
                        <a:rPr lang="en-US" sz="2000" baseline="0" dirty="0" smtClean="0"/>
                        <a:t> of WCE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b X c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19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Low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42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88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Medium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51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914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High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11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99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30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Total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70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192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26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47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899806"/>
              </p:ext>
            </p:extLst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5781707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15232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11018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88727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430749"/>
              </p:ext>
            </p:extLst>
          </p:nvPr>
        </p:nvGraphicFramePr>
        <p:xfrm>
          <a:off x="1042358" y="1120956"/>
          <a:ext cx="639504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344">
                  <a:extLst>
                    <a:ext uri="{9D8B030D-6E8A-4147-A177-3AD203B41FA5}">
                      <a16:colId xmlns:a16="http://schemas.microsoft.com/office/drawing/2014/main" val="3044148211"/>
                    </a:ext>
                  </a:extLst>
                </a:gridCol>
                <a:gridCol w="3148642">
                  <a:extLst>
                    <a:ext uri="{9D8B030D-6E8A-4147-A177-3AD203B41FA5}">
                      <a16:colId xmlns:a16="http://schemas.microsoft.com/office/drawing/2014/main" val="1461488540"/>
                    </a:ext>
                  </a:extLst>
                </a:gridCol>
                <a:gridCol w="2296063">
                  <a:extLst>
                    <a:ext uri="{9D8B030D-6E8A-4147-A177-3AD203B41FA5}">
                      <a16:colId xmlns:a16="http://schemas.microsoft.com/office/drawing/2014/main" val="3862870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Code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Calculation Formula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59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Code Error Density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CED</a:t>
                      </a:r>
                      <a:r>
                        <a:rPr lang="en-US" sz="2000" baseline="0" dirty="0" smtClean="0"/>
                        <a:t> = NCE/KLOC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2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Development Error Density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DED = NDE/KLOC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52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WCED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Weighted Code Error Density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WCED = WCE/KLOC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3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WCEF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Weighted Code Errors per Function Point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WCEF=</a:t>
                      </a:r>
                      <a:r>
                        <a:rPr lang="en-US" sz="2000" baseline="0" dirty="0" smtClean="0"/>
                        <a:t> WCE/NFP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4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9479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188134"/>
              </p:ext>
            </p:extLst>
          </p:nvPr>
        </p:nvGraphicFramePr>
        <p:xfrm>
          <a:off x="1042358" y="4333084"/>
          <a:ext cx="6096000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893451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46875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Number of code errors detected by</a:t>
                      </a:r>
                      <a:r>
                        <a:rPr lang="en-US" sz="1600" baseline="0" dirty="0" smtClean="0"/>
                        <a:t> code inspection and testing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61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NDE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Total</a:t>
                      </a:r>
                      <a:r>
                        <a:rPr lang="en-US" sz="1600" baseline="0" dirty="0" smtClean="0"/>
                        <a:t> number of development errors (design and code)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01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Weighted</a:t>
                      </a:r>
                      <a:r>
                        <a:rPr lang="en-US" sz="1600" baseline="0" dirty="0" smtClean="0"/>
                        <a:t> Code errors detected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56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651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01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164002"/>
              </p:ext>
            </p:extLst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52042437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171044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22699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5653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490" y="983412"/>
            <a:ext cx="82597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An 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A s/w development organization applies two alternative metrics for calculation of Code Error Density: a) CED b)WCED.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The organization decides unacceptable quality as </a:t>
            </a:r>
            <a:r>
              <a:rPr lang="en-US" sz="2400" b="1" u="sng" dirty="0" smtClean="0"/>
              <a:t>CED &gt; 2 </a:t>
            </a:r>
            <a:r>
              <a:rPr lang="en-US" sz="2400" b="1" dirty="0" smtClean="0"/>
              <a:t>and </a:t>
            </a:r>
            <a:r>
              <a:rPr lang="en-US" sz="2400" b="1" u="sng" dirty="0" smtClean="0"/>
              <a:t>WCED &gt; 4</a:t>
            </a:r>
            <a:r>
              <a:rPr lang="en-US" sz="2400" b="1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The s/w size is 40 KLOC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Refer Weighted Code Error table</a:t>
            </a:r>
            <a:endParaRPr lang="en-IN" sz="24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071741"/>
              </p:ext>
            </p:extLst>
          </p:nvPr>
        </p:nvGraphicFramePr>
        <p:xfrm>
          <a:off x="738996" y="3748612"/>
          <a:ext cx="6096000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674548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908334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92883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METRICS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Calculation of Code Error Density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Calculation of WCED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15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89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192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83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KLOC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69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CED (NCE/KLOC)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1.75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17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WCED (WCE/KLOC)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-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4.8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47389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59438"/>
              </p:ext>
            </p:extLst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8438784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5208945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1411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85936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4067" y="895868"/>
            <a:ext cx="80829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iii. Error </a:t>
            </a:r>
            <a:r>
              <a:rPr lang="en-US" sz="2400" b="1" dirty="0"/>
              <a:t>removal effectiveness metrics – self study Pg. No. 419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067" y="1480643"/>
            <a:ext cx="79190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iv. Software process productivity metrics </a:t>
            </a:r>
            <a:r>
              <a:rPr lang="en-US" sz="2400" b="1" dirty="0" smtClean="0">
                <a:sym typeface="Wingdings" panose="05000000000000000000" pitchFamily="2" charset="2"/>
              </a:rPr>
              <a:t> a) Direct  deals with a project’s human resources productivity</a:t>
            </a:r>
          </a:p>
          <a:p>
            <a:r>
              <a:rPr lang="en-US" sz="2400" b="1" dirty="0" smtClean="0">
                <a:sym typeface="Wingdings" panose="05000000000000000000" pitchFamily="2" charset="2"/>
              </a:rPr>
              <a:t> b) Indirect   deals with extent of software reuse.  Software reuse substantially affects productivity and effeteness. </a:t>
            </a:r>
            <a:endParaRPr lang="en-IN" sz="2400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910462"/>
              </p:ext>
            </p:extLst>
          </p:nvPr>
        </p:nvGraphicFramePr>
        <p:xfrm>
          <a:off x="501769" y="3443305"/>
          <a:ext cx="72864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978">
                  <a:extLst>
                    <a:ext uri="{9D8B030D-6E8A-4147-A177-3AD203B41FA5}">
                      <a16:colId xmlns:a16="http://schemas.microsoft.com/office/drawing/2014/main" val="965889357"/>
                    </a:ext>
                  </a:extLst>
                </a:gridCol>
                <a:gridCol w="3471652">
                  <a:extLst>
                    <a:ext uri="{9D8B030D-6E8A-4147-A177-3AD203B41FA5}">
                      <a16:colId xmlns:a16="http://schemas.microsoft.com/office/drawing/2014/main" val="1906449678"/>
                    </a:ext>
                  </a:extLst>
                </a:gridCol>
                <a:gridCol w="2428815">
                  <a:extLst>
                    <a:ext uri="{9D8B030D-6E8A-4147-A177-3AD203B41FA5}">
                      <a16:colId xmlns:a16="http://schemas.microsoft.com/office/drawing/2014/main" val="2133820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Code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Name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Calculation formula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427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DevP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Development Productivity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DevP</a:t>
                      </a:r>
                      <a:r>
                        <a:rPr lang="en-US" sz="2000" b="1" dirty="0" smtClean="0"/>
                        <a:t>= </a:t>
                      </a:r>
                      <a:r>
                        <a:rPr lang="en-US" sz="2000" b="1" dirty="0" err="1" smtClean="0"/>
                        <a:t>DevH</a:t>
                      </a:r>
                      <a:r>
                        <a:rPr lang="en-US" sz="2000" b="1" dirty="0" smtClean="0"/>
                        <a:t>/KLOC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985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CRe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Code Reuse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CRe</a:t>
                      </a:r>
                      <a:r>
                        <a:rPr lang="en-US" sz="2000" b="1" dirty="0" smtClean="0"/>
                        <a:t> = </a:t>
                      </a:r>
                      <a:r>
                        <a:rPr lang="en-US" sz="2000" b="1" dirty="0" err="1" smtClean="0"/>
                        <a:t>ReKLOC</a:t>
                      </a:r>
                      <a:r>
                        <a:rPr lang="en-US" sz="2000" b="1" dirty="0" smtClean="0"/>
                        <a:t>/KLOC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54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DocRe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Documentation Reuse</a:t>
                      </a:r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DocRe</a:t>
                      </a:r>
                      <a:r>
                        <a:rPr lang="en-US" sz="2000" b="1" dirty="0" smtClean="0"/>
                        <a:t>=</a:t>
                      </a:r>
                      <a:r>
                        <a:rPr lang="en-US" sz="2000" b="1" dirty="0" err="1" smtClean="0"/>
                        <a:t>ReDoc</a:t>
                      </a:r>
                      <a:r>
                        <a:rPr lang="en-US" sz="2000" b="1" dirty="0" smtClean="0"/>
                        <a:t>/</a:t>
                      </a:r>
                      <a:r>
                        <a:rPr lang="en-US" sz="2000" b="1" dirty="0" err="1" smtClean="0"/>
                        <a:t>NDoc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78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81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475" y="957531"/>
            <a:ext cx="72548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 smtClean="0"/>
              <a:t>Product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Refers to the software system’s operational phase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Dev. Organization has to provide customer service during the operational phase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There are two types: a) Help Desk Service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 smtClean="0"/>
              <a:t>                                     b) Corrective maintenance </a:t>
            </a:r>
          </a:p>
          <a:p>
            <a:pPr lvl="1"/>
            <a:r>
              <a:rPr lang="en-US" sz="2400" b="1" dirty="0" smtClean="0"/>
              <a:t>(Self study)</a:t>
            </a:r>
          </a:p>
          <a:p>
            <a:pPr lvl="1"/>
            <a:endParaRPr lang="en-US" sz="2400" b="1" dirty="0"/>
          </a:p>
          <a:p>
            <a:pPr lvl="1"/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70162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86" y="1155759"/>
            <a:ext cx="7458973" cy="49344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52754" y="225928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61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61381" y="311093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475" y="957531"/>
            <a:ext cx="72548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Definition of new software quality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Involves a four-stage process</a:t>
            </a:r>
            <a:endParaRPr lang="en-US" sz="2400" b="1" dirty="0"/>
          </a:p>
          <a:p>
            <a:pPr marL="514350" indent="-514350">
              <a:buAutoNum type="romanLcParenR"/>
            </a:pPr>
            <a:r>
              <a:rPr lang="en-US" sz="2400" b="1" dirty="0" smtClean="0"/>
              <a:t>Definition of attributes to be measured: dev team productivity, post-release defect density etc.</a:t>
            </a:r>
          </a:p>
          <a:p>
            <a:pPr marL="514350" indent="-514350">
              <a:buAutoNum type="romanLcParenR"/>
            </a:pPr>
            <a:r>
              <a:rPr lang="en-US" sz="2400" b="1" dirty="0" smtClean="0"/>
              <a:t>Definition of metrics that measure the required attributes</a:t>
            </a:r>
          </a:p>
          <a:p>
            <a:pPr marL="514350" indent="-514350">
              <a:buAutoNum type="romanLcParenR"/>
            </a:pPr>
            <a:r>
              <a:rPr lang="en-US" sz="2400" b="1" dirty="0" smtClean="0"/>
              <a:t>Determination of comparative target values based on standards, previous performance etc.</a:t>
            </a:r>
          </a:p>
          <a:p>
            <a:pPr marL="514350" indent="-514350">
              <a:buAutoNum type="romanLcParenR"/>
            </a:pPr>
            <a:r>
              <a:rPr lang="en-US" sz="2400" b="1" dirty="0" smtClean="0"/>
              <a:t>Determination of metrics application processes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400" b="1" dirty="0" smtClean="0"/>
              <a:t>Reporting method including frequency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400" b="1" dirty="0" smtClean="0"/>
              <a:t>Metrics data collection method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1420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51" y="396815"/>
            <a:ext cx="6021238" cy="56157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336" y="6012611"/>
            <a:ext cx="295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Refer the fig 21.1 Pg. 429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7833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552754" y="225928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4453" y="931652"/>
            <a:ext cx="8022566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The process of applying a metric or a set of metrics is similar to the implementation of new procedure or methodologies.</a:t>
            </a:r>
          </a:p>
          <a:p>
            <a:r>
              <a:rPr lang="en-US" sz="2600" b="1" dirty="0" smtClean="0"/>
              <a:t>It involves: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smtClean="0"/>
              <a:t>Assigning responsibility for metrics data collection and reporting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smtClean="0"/>
              <a:t>Instruction of the team regarding the new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smtClean="0"/>
              <a:t>Follow-up includes: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 smtClean="0"/>
              <a:t>Support for solving application problems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 smtClean="0"/>
              <a:t>Control of metrics reporting – completeness and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 smtClean="0"/>
              <a:t>Updates and changes of metrics definition according to past performance 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36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52754" y="225928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4015" y="940279"/>
            <a:ext cx="72979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For the metrics data to be a valuable part of the SQA process, statistical analysis is required.</a:t>
            </a:r>
          </a:p>
          <a:p>
            <a:r>
              <a:rPr lang="en-US" sz="2400" b="1" dirty="0" smtClean="0"/>
              <a:t>Statistical tools provide us two levels of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Descriptive statistics </a:t>
            </a:r>
            <a:r>
              <a:rPr lang="en-US" sz="2400" b="1" dirty="0" smtClean="0">
                <a:sym typeface="Wingdings" panose="05000000000000000000" pitchFamily="2" charset="2"/>
              </a:rPr>
              <a:t> mean, median and mode as well use of distribution graphs, histograms </a:t>
            </a:r>
            <a:r>
              <a:rPr lang="en-US" sz="2400" b="1" dirty="0" err="1" smtClean="0">
                <a:sym typeface="Wingdings" panose="05000000000000000000" pitchFamily="2" charset="2"/>
              </a:rPr>
              <a:t>etc</a:t>
            </a:r>
            <a:endParaRPr lang="en-US" sz="2400" b="1" dirty="0" smtClean="0"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ym typeface="Wingdings" panose="05000000000000000000" pitchFamily="2" charset="2"/>
              </a:rPr>
              <a:t>See the template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smtClean="0">
                <a:hlinkClick r:id="rId2" action="ppaction://hlinkfile"/>
              </a:rPr>
              <a:t>Defect Removal Efficiency Template</a:t>
            </a:r>
            <a:endParaRPr lang="en-US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Analytical statistics  </a:t>
            </a:r>
            <a:r>
              <a:rPr lang="en-US" sz="2400" b="1" dirty="0" smtClean="0">
                <a:sym typeface="Wingdings" panose="05000000000000000000" pitchFamily="2" charset="2"/>
              </a:rPr>
              <a:t> T-test, Chi-square test etc. Difficult in software industry 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60533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52754" y="225928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9728" y="810703"/>
            <a:ext cx="73583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Limitations of software metrics:</a:t>
            </a:r>
          </a:p>
          <a:p>
            <a:pPr marL="457200" indent="-457200">
              <a:buAutoNum type="arabicPeriod"/>
            </a:pPr>
            <a:r>
              <a:rPr lang="en-US" sz="2400" b="1" dirty="0" smtClean="0"/>
              <a:t>Budget constraints in allocating the necessary resources </a:t>
            </a:r>
            <a:r>
              <a:rPr lang="en-US" sz="2400" b="1" dirty="0" smtClean="0">
                <a:sym typeface="Wingdings" panose="05000000000000000000" pitchFamily="2" charset="2"/>
              </a:rPr>
              <a:t> manpower, funds,</a:t>
            </a:r>
          </a:p>
          <a:p>
            <a:pPr marL="457200" indent="-457200">
              <a:buAutoNum type="arabicPeriod"/>
            </a:pPr>
            <a:r>
              <a:rPr lang="en-US" sz="2400" b="1" dirty="0" smtClean="0">
                <a:sym typeface="Wingdings" panose="05000000000000000000" pitchFamily="2" charset="2"/>
              </a:rPr>
              <a:t>Human factors   opposition of employees to evaluation of their activities</a:t>
            </a:r>
          </a:p>
          <a:p>
            <a:pPr marL="457200" indent="-457200">
              <a:buAutoNum type="arabicPeriod"/>
            </a:pPr>
            <a:r>
              <a:rPr lang="en-US" sz="2400" b="1" dirty="0" smtClean="0">
                <a:sym typeface="Wingdings" panose="05000000000000000000" pitchFamily="2" charset="2"/>
              </a:rPr>
              <a:t>Uncertainty regarding the data’s validity, partial and biased reporting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6390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52754" y="225928"/>
            <a:ext cx="53570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prstClr val="black"/>
                </a:solidFill>
              </a:rPr>
              <a:t>Software Quality Assurance</a:t>
            </a:r>
            <a:endParaRPr lang="en-IN" sz="3200" b="1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3245" y="992038"/>
            <a:ext cx="79230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The main factors affecting the </a:t>
            </a:r>
            <a:r>
              <a:rPr lang="en-US" sz="2400" b="1" u="sng" dirty="0" smtClean="0"/>
              <a:t>development process </a:t>
            </a:r>
            <a:r>
              <a:rPr lang="en-US" sz="2400" b="1" dirty="0" smtClean="0"/>
              <a:t>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Programming style </a:t>
            </a:r>
            <a:r>
              <a:rPr lang="en-US" sz="2400" b="1" dirty="0" smtClean="0">
                <a:sym typeface="Wingdings" panose="05000000000000000000" pitchFamily="2" charset="2"/>
              </a:rPr>
              <a:t> “wasteful” code increase the volume of the code (KLOC)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ym typeface="Wingdings" panose="05000000000000000000" pitchFamily="2" charset="2"/>
              </a:rPr>
              <a:t>Volume of the documentation comments in the code  affects the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ym typeface="Wingdings" panose="05000000000000000000" pitchFamily="2" charset="2"/>
              </a:rPr>
              <a:t>Software complexity  complex modules require more dev. time compared to simple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ym typeface="Wingdings" panose="05000000000000000000" pitchFamily="2" charset="2"/>
              </a:rPr>
              <a:t>Percentage of reused code  more percentage…decrease in defects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ym typeface="Wingdings" panose="05000000000000000000" pitchFamily="2" charset="2"/>
              </a:rPr>
              <a:t>Professionalism of design review and testing team </a:t>
            </a:r>
          </a:p>
          <a:p>
            <a:r>
              <a:rPr lang="en-US" sz="2400" b="1" dirty="0"/>
              <a:t>The main factors affecting the </a:t>
            </a:r>
            <a:r>
              <a:rPr lang="en-US" sz="2400" b="1" u="sng" dirty="0" smtClean="0"/>
              <a:t>product (maintenance) </a:t>
            </a:r>
            <a:r>
              <a:rPr lang="en-US" sz="2400" b="1" dirty="0" smtClean="0"/>
              <a:t>parameters </a:t>
            </a:r>
            <a:r>
              <a:rPr lang="en-US" sz="2400" b="1" dirty="0" smtClean="0">
                <a:sym typeface="Wingdings" panose="05000000000000000000" pitchFamily="2" charset="2"/>
              </a:rPr>
              <a:t> self study </a:t>
            </a:r>
            <a:endParaRPr lang="en-US" sz="2400" b="1" dirty="0"/>
          </a:p>
          <a:p>
            <a:endParaRPr lang="en-US" sz="2400" b="1" dirty="0" smtClean="0">
              <a:sym typeface="Wingdings" panose="05000000000000000000" pitchFamily="2" charset="2"/>
            </a:endParaRP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73211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21544</TotalTime>
  <Words>1258</Words>
  <Application>Microsoft Office PowerPoint</Application>
  <PresentationFormat>On-screen Show (4:3)</PresentationFormat>
  <Paragraphs>281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Times New Roman</vt:lpstr>
      <vt:lpstr>Wingdings</vt:lpstr>
      <vt:lpstr>1_Office Theme</vt:lpstr>
      <vt:lpstr>PowerPoint Presentation</vt:lpstr>
      <vt:lpstr>PowerPoint Presentation</vt:lpstr>
      <vt:lpstr>Software Quality Assurance</vt:lpstr>
      <vt:lpstr>Software Quality Assurance</vt:lpstr>
      <vt:lpstr>Software Quality Assurance</vt:lpstr>
      <vt:lpstr>Data Collection for metrics</vt:lpstr>
      <vt:lpstr>PowerPoint Presentation</vt:lpstr>
      <vt:lpstr>PowerPoint Presentation</vt:lpstr>
      <vt:lpstr>PowerPoint Presentation</vt:lpstr>
      <vt:lpstr>                                                                                                                                                                                              Categories Of 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</dc:title>
  <dc:creator>Sudarshan</dc:creator>
  <cp:lastModifiedBy>Sudarshanr</cp:lastModifiedBy>
  <cp:revision>304</cp:revision>
  <dcterms:created xsi:type="dcterms:W3CDTF">2025-04-08T03:54:00Z</dcterms:created>
  <dcterms:modified xsi:type="dcterms:W3CDTF">2026-10-26T04:47:28Z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C714B03A30B5405C91844774F92E2436_12</vt:lpwstr>
  </property>
  <property fmtid="{D5CDD505-2E9C-101B-9397-08002B2CF9AE}" pid="3" name="KSOProductBuildVer">
    <vt:lpwstr>1033-12.2.0.21931</vt:lpwstr>
  </property>
</Properties>
</file>